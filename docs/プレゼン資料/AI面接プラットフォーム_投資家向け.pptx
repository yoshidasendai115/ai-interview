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56032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0">
                <a:solidFill>
                  <a:srgbClr val="C8DCFF"/>
                </a:solidFill>
              </a:defRPr>
            </a:pPr>
            <a:r>
              <a:t>mintoku 採用支援サービス 新機能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AI面接練習・評価機能（仮）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0">
                <a:solidFill>
                  <a:srgbClr val="DCF0FF"/>
                </a:solidFill>
              </a:defRPr>
            </a:pPr>
            <a:r>
              <a:t>外国人採用の「見極め精度」を飛躍的に向上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0">
                <a:solidFill>
                  <a:srgbClr val="646464"/>
                </a:solidFill>
              </a:defRPr>
            </a:pPr>
            <a:r>
              <a:t>◯◯向け新サービス説明資料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0">
                <a:solidFill>
                  <a:srgbClr val="006699"/>
                </a:solidFill>
              </a:defRPr>
            </a:pPr>
            <a:r>
              <a:t>mintoku.com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0">
                <a:solidFill>
                  <a:srgbClr val="969696"/>
                </a:solidFill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市場機会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急成長する外国人労働者市場 × mintokuの顧客基盤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外国人労働者数: 2024年に200万人突破（過去最高を更新）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特定技能ビザ制度の拡大（2024年: 対象分野を12→16に拡大）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人手不足の深刻化（介護・建設・製造業・飲食業など）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657600"/>
            <a:ext cx="4114800" cy="274320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749040"/>
            <a:ext cx="39319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mintokuの既存基盤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114800"/>
            <a:ext cx="393192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導入企業2,000社以上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外国人採用〜帰国まで一元管理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Mintoku work（求人プラットフォーム）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Mintoku study（日本語学習アプリ）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アジア各国の送り出し機関と連携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657600"/>
            <a:ext cx="4114800" cy="274320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3749040"/>
            <a:ext cx="39319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新機能によるシナジー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114800"/>
            <a:ext cx="393192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既存顧客への追加価値提供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採用精度向上による顧客満足度UP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Mintoku studyとの学習連携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採用支援サービスの差別化強化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企業が抱える外国人採用の課題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日本語能力の正確な見極めが困難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書類上のJLPTレベル（N1〜N5）だけでは実力がわからない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面接での会話力と業務遂行能力にギャップがある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申告JLPTレベルと実力の乖離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「N2取得」でも実際の会話・敬語が不十分なケースが多い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ミスマッチによる早期離職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採用コスト損失（1人あたり平均50〜100万円）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現場の受け入れ負担増大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ソリューション概要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AIによる面接練習とわかりやすい評価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743200" cy="25603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① AIアバター面接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0312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リアルな面接官アバター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リップシンク対応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JLPTレベル別の質問生成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リアルタイム会話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645920"/>
            <a:ext cx="2743200" cy="25603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73736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② AI自動評価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0312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日本語能力4軸評価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採用適性5軸評価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JLPTレベル乖離検出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業務適性判定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743200" cy="25603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③ 企業向けレポート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0312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わかりやすい評価データ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採用判断の根拠提供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比較可能な指標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リスク軽減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8229600" cy="1371600"/>
          </a:xfrm>
          <a:prstGeom prst="round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82296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採用ミスマッチを削減し、企業の採用コストと離職リスクを低減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面接シナリオ構成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560320"/>
            <a:ext cx="8229600" cy="137160"/>
          </a:xfrm>
          <a:prstGeom prst="rect">
            <a:avLst/>
          </a:prstGeom>
          <a:solidFill>
            <a:srgbClr val="C8C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331720"/>
            <a:ext cx="640080" cy="640080"/>
          </a:xfrm>
          <a:prstGeom prst="ellipse">
            <a:avLst/>
          </a:prstGeom>
          <a:solidFill>
            <a:srgbClr val="6496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54480"/>
            <a:ext cx="1371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6496C8"/>
                </a:solidFill>
              </a:defRPr>
            </a:pPr>
            <a:r>
              <a:t>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6400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5分</a:t>
            </a:r>
          </a:p>
        </p:txBody>
      </p:sp>
      <p:sp>
        <p:nvSpPr>
          <p:cNvPr id="8" name="Oval 7"/>
          <p:cNvSpPr/>
          <p:nvPr/>
        </p:nvSpPr>
        <p:spPr>
          <a:xfrm>
            <a:off x="2011680" y="2331720"/>
            <a:ext cx="640080" cy="640080"/>
          </a:xfrm>
          <a:prstGeom prst="ellipse">
            <a:avLst/>
          </a:prstGeom>
          <a:solidFill>
            <a:srgbClr val="508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1554480"/>
            <a:ext cx="1371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508C64"/>
                </a:solidFill>
              </a:defRPr>
            </a:pPr>
            <a:r>
              <a:t>過去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423160"/>
            <a:ext cx="6400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10分</a:t>
            </a:r>
          </a:p>
        </p:txBody>
      </p:sp>
      <p:sp>
        <p:nvSpPr>
          <p:cNvPr id="11" name="Oval 10"/>
          <p:cNvSpPr/>
          <p:nvPr/>
        </p:nvSpPr>
        <p:spPr>
          <a:xfrm>
            <a:off x="3383279" y="2331720"/>
            <a:ext cx="640080" cy="640080"/>
          </a:xfrm>
          <a:prstGeom prst="ellipse">
            <a:avLst/>
          </a:prstGeom>
          <a:solidFill>
            <a:srgbClr val="B47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554480"/>
            <a:ext cx="1371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B4783C"/>
                </a:solidFill>
              </a:defRPr>
            </a:pPr>
            <a:r>
              <a:t>現在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79" y="2423160"/>
            <a:ext cx="6400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10分</a:t>
            </a:r>
          </a:p>
        </p:txBody>
      </p:sp>
      <p:sp>
        <p:nvSpPr>
          <p:cNvPr id="14" name="Oval 13"/>
          <p:cNvSpPr/>
          <p:nvPr/>
        </p:nvSpPr>
        <p:spPr>
          <a:xfrm>
            <a:off x="4754880" y="2331720"/>
            <a:ext cx="640080" cy="640080"/>
          </a:xfrm>
          <a:prstGeom prst="ellipse">
            <a:avLst/>
          </a:prstGeom>
          <a:solidFill>
            <a:srgbClr val="8C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554480"/>
            <a:ext cx="1371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8C508C"/>
                </a:solidFill>
              </a:defRPr>
            </a:pPr>
            <a:r>
              <a:t>未来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423160"/>
            <a:ext cx="6400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10分</a:t>
            </a:r>
          </a:p>
        </p:txBody>
      </p:sp>
      <p:sp>
        <p:nvSpPr>
          <p:cNvPr id="17" name="Oval 16"/>
          <p:cNvSpPr/>
          <p:nvPr/>
        </p:nvSpPr>
        <p:spPr>
          <a:xfrm>
            <a:off x="6126480" y="2331720"/>
            <a:ext cx="640080" cy="640080"/>
          </a:xfrm>
          <a:prstGeom prst="ellipse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1554480"/>
            <a:ext cx="1371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787878"/>
                </a:solidFill>
              </a:defRPr>
            </a:pPr>
            <a:r>
              <a:t>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2423160"/>
            <a:ext cx="6400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5分</a:t>
            </a:r>
          </a:p>
        </p:txBody>
      </p:sp>
      <p:sp>
        <p:nvSpPr>
          <p:cNvPr id="20" name="Oval 19"/>
          <p:cNvSpPr/>
          <p:nvPr/>
        </p:nvSpPr>
        <p:spPr>
          <a:xfrm>
            <a:off x="7498079" y="2331720"/>
            <a:ext cx="640080" cy="640080"/>
          </a:xfrm>
          <a:prstGeom prst="ellipse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1554480"/>
            <a:ext cx="1371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5293"/>
                </a:solidFill>
              </a:defRPr>
            </a:pPr>
            <a:r>
              <a:t>締め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423160"/>
            <a:ext cx="6400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2423160"/>
            <a:ext cx="3657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>
                <a:solidFill>
                  <a:srgbClr val="969696"/>
                </a:solidFill>
              </a:defRPr>
            </a:pPr>
            <a: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2423160"/>
            <a:ext cx="3657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>
                <a:solidFill>
                  <a:srgbClr val="969696"/>
                </a:solidFill>
              </a:defRPr>
            </a:pPr>
            <a:r>
              <a:t>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2423160"/>
            <a:ext cx="3657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>
                <a:solidFill>
                  <a:srgbClr val="969696"/>
                </a:solidFill>
              </a:defRPr>
            </a:pPr>
            <a:r>
              <a:t>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2423160"/>
            <a:ext cx="3657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>
                <a:solidFill>
                  <a:srgbClr val="969696"/>
                </a:solidFill>
              </a:defRPr>
            </a:pPr>
            <a:r>
              <a:t>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2423160"/>
            <a:ext cx="3657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>
                <a:solidFill>
                  <a:srgbClr val="969696"/>
                </a:solidFill>
              </a:defRPr>
            </a:pPr>
            <a: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003366"/>
                </a:solidFill>
              </a:defRPr>
            </a:pPr>
            <a:r>
              <a:t>採用適性評価 5軸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4206240"/>
            <a:ext cx="1554480" cy="1554480"/>
          </a:xfrm>
          <a:prstGeom prst="ellipse">
            <a:avLst/>
          </a:prstGeom>
          <a:solidFill>
            <a:srgbClr val="0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709160"/>
            <a:ext cx="1554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適応力</a:t>
            </a:r>
          </a:p>
        </p:txBody>
      </p:sp>
      <p:sp>
        <p:nvSpPr>
          <p:cNvPr id="31" name="Oval 30"/>
          <p:cNvSpPr/>
          <p:nvPr/>
        </p:nvSpPr>
        <p:spPr>
          <a:xfrm>
            <a:off x="2194560" y="4206240"/>
            <a:ext cx="1554480" cy="1554480"/>
          </a:xfrm>
          <a:prstGeom prst="ellipse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4709160"/>
            <a:ext cx="1554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コミュニケーション</a:t>
            </a:r>
          </a:p>
        </p:txBody>
      </p:sp>
      <p:sp>
        <p:nvSpPr>
          <p:cNvPr id="33" name="Oval 32"/>
          <p:cNvSpPr/>
          <p:nvPr/>
        </p:nvSpPr>
        <p:spPr>
          <a:xfrm>
            <a:off x="3931920" y="4206240"/>
            <a:ext cx="1554480" cy="1554480"/>
          </a:xfrm>
          <a:prstGeom prst="ellipse">
            <a:avLst/>
          </a:prstGeom>
          <a:solidFill>
            <a:srgbClr val="C88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4709160"/>
            <a:ext cx="1554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主体性</a:t>
            </a:r>
          </a:p>
        </p:txBody>
      </p:sp>
      <p:sp>
        <p:nvSpPr>
          <p:cNvPr id="35" name="Oval 34"/>
          <p:cNvSpPr/>
          <p:nvPr/>
        </p:nvSpPr>
        <p:spPr>
          <a:xfrm>
            <a:off x="5669279" y="4206240"/>
            <a:ext cx="1554480" cy="1554480"/>
          </a:xfrm>
          <a:prstGeom prst="ellipse">
            <a:avLst/>
          </a:prstGeom>
          <a:solidFill>
            <a:srgbClr val="9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79" y="4709160"/>
            <a:ext cx="1554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定着意向</a:t>
            </a:r>
          </a:p>
        </p:txBody>
      </p:sp>
      <p:sp>
        <p:nvSpPr>
          <p:cNvPr id="37" name="Oval 36"/>
          <p:cNvSpPr/>
          <p:nvPr/>
        </p:nvSpPr>
        <p:spPr>
          <a:xfrm>
            <a:off x="7406640" y="4206240"/>
            <a:ext cx="1554480" cy="1554480"/>
          </a:xfrm>
          <a:prstGeom prst="ellipse">
            <a:avLst/>
          </a:prstGeom>
          <a:solidFill>
            <a:srgbClr val="646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06640" y="4709160"/>
            <a:ext cx="1554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協調性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各フェーズの回答からAIが5軸を総合評価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面接の流れ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463040"/>
            <a:ext cx="1371600" cy="1371600"/>
          </a:xfrm>
          <a:prstGeom prst="ellipse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371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926080"/>
            <a:ext cx="2011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005293"/>
                </a:solidFill>
              </a:defRPr>
            </a:pPr>
            <a:r>
              <a:t>AIが質問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832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アバターが</a:t>
            </a:r>
            <a:br/>
            <a:r>
              <a:t>質問を発話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9202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B4B4B4"/>
                </a:solidFill>
              </a:defRPr>
            </a:pPr>
            <a:r>
              <a:t>→</a:t>
            </a:r>
          </a:p>
        </p:txBody>
      </p:sp>
      <p:sp>
        <p:nvSpPr>
          <p:cNvPr id="9" name="Oval 8"/>
          <p:cNvSpPr/>
          <p:nvPr/>
        </p:nvSpPr>
        <p:spPr>
          <a:xfrm>
            <a:off x="2880360" y="1463040"/>
            <a:ext cx="1371600" cy="1371600"/>
          </a:xfrm>
          <a:prstGeom prst="ellipse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828800"/>
            <a:ext cx="1371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926080"/>
            <a:ext cx="2011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646464"/>
                </a:solidFill>
              </a:defRPr>
            </a:pPr>
            <a:r>
              <a:t>次の質問を確認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3832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質問内容</a:t>
            </a:r>
            <a:br/>
            <a:r>
              <a:t>モーダル表示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9202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B4B4B4"/>
                </a:solidFill>
              </a:defRPr>
            </a:pPr>
            <a: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5074920" y="1463040"/>
            <a:ext cx="1371600" cy="1371600"/>
          </a:xfrm>
          <a:prstGeom prst="ellipse">
            <a:avLst/>
          </a:prstGeom>
          <a:solidFill>
            <a:srgbClr val="00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28800"/>
            <a:ext cx="1371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26080"/>
            <a:ext cx="2011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007850"/>
                </a:solidFill>
              </a:defRPr>
            </a:pPr>
            <a:r>
              <a:t>音声で回答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3832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録音モーダル</a:t>
            </a:r>
            <a:br/>
            <a:r>
              <a:t>リアルタイム文字起こし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9202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B4B4B4"/>
                </a:solidFill>
              </a:defRPr>
            </a:pPr>
            <a: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7269479" y="1463040"/>
            <a:ext cx="1371600" cy="1371600"/>
          </a:xfrm>
          <a:prstGeom prst="ellipse">
            <a:avLst/>
          </a:prstGeom>
          <a:solidFill>
            <a:srgbClr val="B46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79" y="1828800"/>
            <a:ext cx="1371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926080"/>
            <a:ext cx="20116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B46432"/>
                </a:solidFill>
              </a:defRPr>
            </a:pPr>
            <a:r>
              <a:t>次の質問へ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832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>
                <a:solidFill>
                  <a:srgbClr val="505050"/>
                </a:solidFill>
              </a:defRPr>
            </a:pPr>
            <a:r>
              <a:t>10問</a:t>
            </a:r>
            <a:br/>
            <a:r>
              <a:t>繰り返し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会話例</a:t>
            </a:r>
          </a:p>
        </p:txBody>
      </p:sp>
      <p:sp>
        <p:nvSpPr>
          <p:cNvPr id="4" name="Oval 3"/>
          <p:cNvSpPr/>
          <p:nvPr/>
        </p:nvSpPr>
        <p:spPr>
          <a:xfrm>
            <a:off x="274320" y="1188720"/>
            <a:ext cx="1097280" cy="548640"/>
          </a:xfrm>
          <a:prstGeom prst="ellipse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80160"/>
            <a:ext cx="10972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AI面接官</a:t>
            </a:r>
          </a:p>
        </p:txBody>
      </p:sp>
      <p:sp>
        <p:nvSpPr>
          <p:cNvPr id="6" name="Oval 5"/>
          <p:cNvSpPr/>
          <p:nvPr/>
        </p:nvSpPr>
        <p:spPr>
          <a:xfrm>
            <a:off x="7772400" y="1188720"/>
            <a:ext cx="1097280" cy="548640"/>
          </a:xfrm>
          <a:prstGeom prst="ellipse">
            <a:avLst/>
          </a:prstGeom>
          <a:solidFill>
            <a:srgbClr val="007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280160"/>
            <a:ext cx="10972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ユーザー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920240"/>
            <a:ext cx="5029200" cy="4572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5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93392"/>
            <a:ext cx="4754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>
                <a:solidFill>
                  <a:srgbClr val="003366"/>
                </a:solidFill>
              </a:defRPr>
            </a:pPr>
            <a:r>
              <a:t>日本で働きたいと思った理由を教えてください。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468880"/>
            <a:ext cx="7040880" cy="457200"/>
          </a:xfrm>
          <a:prstGeom prst="roundRect">
            <a:avLst/>
          </a:prstGeom>
          <a:solidFill>
            <a:srgbClr val="E6FFF0"/>
          </a:solidFill>
          <a:ln w="25400">
            <a:solidFill>
              <a:srgbClr val="0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2542032"/>
            <a:ext cx="67665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005032"/>
                </a:solidFill>
              </a:defRPr>
            </a:pPr>
            <a:r>
              <a:t>日本の技術を学びたいからです。母国でも日本製品は有名で、ずっと憧れていました。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3017520"/>
            <a:ext cx="5029200" cy="4572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5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90672"/>
            <a:ext cx="4754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>
                <a:solidFill>
                  <a:srgbClr val="003366"/>
                </a:solidFill>
              </a:defRPr>
            </a:pPr>
            <a:r>
              <a:t>5年後、どのようになっていたいですか？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3566160"/>
            <a:ext cx="7040880" cy="457200"/>
          </a:xfrm>
          <a:prstGeom prst="roundRect">
            <a:avLst/>
          </a:prstGeom>
          <a:solidFill>
            <a:srgbClr val="E6FFF0"/>
          </a:solidFill>
          <a:ln w="25400">
            <a:solidFill>
              <a:srgbClr val="0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3639312"/>
            <a:ext cx="67665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005032"/>
                </a:solidFill>
              </a:defRPr>
            </a:pPr>
            <a:r>
              <a:t>日本語をもっと上手になって、リーダーとして働きたいです。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4114800"/>
            <a:ext cx="5029200" cy="4572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5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87952"/>
            <a:ext cx="4754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>
                <a:solidFill>
                  <a:srgbClr val="003366"/>
                </a:solidFill>
              </a:defRPr>
            </a:pPr>
            <a:r>
              <a:t>日本で働くにあたって、不安なことはありますか？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4663440"/>
            <a:ext cx="7040880" cy="457200"/>
          </a:xfrm>
          <a:prstGeom prst="roundRect">
            <a:avLst/>
          </a:prstGeom>
          <a:solidFill>
            <a:srgbClr val="E6FFF0"/>
          </a:solidFill>
          <a:ln w="25400">
            <a:solidFill>
              <a:srgbClr val="007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4736592"/>
            <a:ext cx="67665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>
                <a:solidFill>
                  <a:srgbClr val="005032"/>
                </a:solidFill>
              </a:defRPr>
            </a:pPr>
            <a:r>
              <a:t>日本語がまだ完璧ではないので少し不安ですが、毎日勉強しています。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6035040"/>
            <a:ext cx="8229600" cy="640080"/>
          </a:xfrm>
          <a:prstGeom prst="roundRect">
            <a:avLst/>
          </a:prstGeom>
          <a:solidFill>
            <a:srgbClr val="FFFAF0"/>
          </a:solidFill>
          <a:ln w="25400">
            <a:solidFill>
              <a:srgbClr val="C88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172200"/>
            <a:ext cx="82296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B4641E"/>
                </a:solidFill>
              </a:defRPr>
            </a:pPr>
            <a:r>
              <a:t>→ 各回答をAIが自動評価（語彙・文法・内容・敬語）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レベルアップチャレンジ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高得点で上位レベルに挑戦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2011680"/>
            <a:ext cx="1371600" cy="1371600"/>
          </a:xfrm>
          <a:prstGeom prst="ellipse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N3</a:t>
            </a:r>
          </a:p>
          <a:p>
            <a:pPr algn="ctr">
              <a:defRPr sz="1200">
                <a:solidFill>
                  <a:srgbClr val="DCF0FF"/>
                </a:solidFill>
              </a:defRPr>
            </a:pPr>
            <a:r>
              <a:t>申告レベル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423160"/>
            <a:ext cx="10972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>
                <a:solidFill>
                  <a:srgbClr val="969696"/>
                </a:solidFill>
              </a:defRPr>
            </a:pPr>
            <a: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645920"/>
            <a:ext cx="13716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AI面接実施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2011680"/>
            <a:ext cx="1645920" cy="1371600"/>
          </a:xfrm>
          <a:prstGeom prst="round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2194560"/>
            <a:ext cx="164592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N3結果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70点</a:t>
            </a:r>
          </a:p>
          <a:p>
            <a:pPr algn="ctr">
              <a:defRPr sz="1200">
                <a:solidFill>
                  <a:srgbClr val="FFFF96"/>
                </a:solidFill>
              </a:defRPr>
            </a:pPr>
            <a:r>
              <a:t>★高得点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23160"/>
            <a:ext cx="10972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>
                <a:solidFill>
                  <a:srgbClr val="009664"/>
                </a:solidFill>
              </a:defRPr>
            </a:pPr>
            <a: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645920"/>
            <a:ext cx="146304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009664"/>
                </a:solidFill>
              </a:defRPr>
            </a:pPr>
            <a:r>
              <a:t>チャレンジ解放!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0" y="2011680"/>
            <a:ext cx="1371600" cy="1371600"/>
          </a:xfrm>
          <a:prstGeom prst="ellipse">
            <a:avLst/>
          </a:prstGeom>
          <a:solidFill>
            <a:srgbClr val="C88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28600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N2</a:t>
            </a:r>
          </a:p>
          <a:p>
            <a:pPr algn="ctr">
              <a:defRPr sz="1200">
                <a:solidFill>
                  <a:srgbClr val="FFE6C8"/>
                </a:solidFill>
              </a:defRPr>
            </a:pPr>
            <a:r>
              <a:t>チャレンジ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423160"/>
            <a:ext cx="914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>
                <a:solidFill>
                  <a:srgbClr val="969696"/>
                </a:solidFill>
              </a:defRPr>
            </a:pPr>
            <a: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45920"/>
            <a:ext cx="13716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646464"/>
                </a:solidFill>
              </a:defRPr>
            </a:pPr>
            <a:r>
              <a:t>AI面接実施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2011680"/>
            <a:ext cx="1371600" cy="1371600"/>
          </a:xfrm>
          <a:prstGeom prst="roundRect">
            <a:avLst/>
          </a:prstGeom>
          <a:solidFill>
            <a:srgbClr val="9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194560"/>
            <a:ext cx="13716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N2結果</a:t>
            </a:r>
          </a:p>
          <a:p>
            <a:pPr algn="ctr">
              <a:defRPr sz="2800" b="1">
                <a:solidFill>
                  <a:srgbClr val="FFFFFF"/>
                </a:solidFill>
              </a:defRPr>
            </a:pPr>
            <a:r>
              <a:t>50点</a:t>
            </a:r>
          </a:p>
          <a:p>
            <a:pPr algn="ctr">
              <a:defRPr sz="1200">
                <a:solidFill>
                  <a:srgbClr val="E6C8E6"/>
                </a:solidFill>
              </a:defRPr>
            </a:pPr>
            <a:r>
              <a:t>挑戦中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931920"/>
            <a:ext cx="8229600" cy="2286000"/>
          </a:xfrm>
          <a:prstGeom prst="roundRect">
            <a:avLst/>
          </a:prstGeom>
          <a:solidFill>
            <a:srgbClr val="FFFAF0"/>
          </a:solidFill>
          <a:ln w="25400">
            <a:solidFill>
              <a:srgbClr val="C8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966432"/>
                </a:solidFill>
              </a:defRPr>
            </a:pPr>
            <a:r>
              <a:t>レベルアップチャレンジの仕組み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480560"/>
            <a:ext cx="80467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006432"/>
                </a:solidFill>
              </a:defRPr>
            </a:pPr>
            <a:r>
              <a:t>💡 高得点基準: 申告レベルで70点以上を取得すると、上位レベルへのチャレンジが解放されます</a:t>
            </a:r>
          </a:p>
          <a:p>
            <a:pPr>
              <a:spcAft>
                <a:spcPts val="800"/>
              </a:spcAft>
              <a:defRPr sz="1400">
                <a:solidFill>
                  <a:srgbClr val="005293"/>
                </a:solidFill>
              </a:defRPr>
            </a:pPr>
            <a:r>
              <a:t>💡 実力測定: 実力を正確に測定し、ユーザーに最適なレベルを特定します</a:t>
            </a:r>
          </a:p>
          <a:p>
            <a:pPr>
              <a:spcAft>
                <a:spcPts val="800"/>
              </a:spcAft>
              <a:defRPr sz="1400">
                <a:solidFill>
                  <a:srgbClr val="965096"/>
                </a:solidFill>
              </a:defRPr>
            </a:pPr>
            <a:r>
              <a:t>💡 採用時の価値: 上位レベルでも高得点なら、申告以上の実力があることを証明できます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主な機能（できること）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JLPTレベル別学習プラン（N1〜N5対応）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各レベルに最適化された質問と評価基準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AIアバター面接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リップシンク対応のリアルな面接官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HeyGen APIによる高品質なアバター映像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その場でアドバイス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音声認識による即時文字起こし（Google Speech-to-Text）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回答ごとの評価とアドバイス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苦手克服ループ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AIが弱点を特定し、重点的に反復練習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パーソナライズされた学習体験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評価で得られる情報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3つの視点で評価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4114800" cy="21031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39319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日本語能力評価（4軸）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03120"/>
            <a:ext cx="39319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語彙力: 適切な単語選択・語彙の豊富さ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文法: 文法的正確性・複雑な構文の使用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内容: 質問への適切な回答・論理性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敬語: ビジネス敬語の正確な使用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4114800" cy="21031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37360"/>
            <a:ext cx="39319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採用適性評価（5軸）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103120"/>
            <a:ext cx="39319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適応力: 新環境への順応性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コミュニケーション力: 意思疎通能力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主体性: 自発的行動・問題解決意欲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定着意向: 長期勤続の意思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協調性: チームワーク能力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114800"/>
            <a:ext cx="8229600" cy="2103120"/>
          </a:xfrm>
          <a:prstGeom prst="roundRect">
            <a:avLst/>
          </a:prstGeom>
          <a:solidFill>
            <a:srgbClr val="FFF8F0"/>
          </a:solidFill>
          <a:ln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964600"/>
                </a:solidFill>
              </a:defRPr>
            </a:pPr>
            <a:r>
              <a:t>JLPTレベル乖離検出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80467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/>
            </a:pPr>
            <a:r>
              <a:t>申告レベルと実力の乖離を自動検出</a:t>
            </a:r>
          </a:p>
          <a:p>
            <a:pPr>
              <a:defRPr sz="1300">
                <a:solidFill>
                  <a:srgbClr val="646464"/>
                </a:solidFill>
              </a:defRPr>
            </a:pPr>
            <a:r>
              <a:t>例：「申告N3 → 実力N4相当」「申告N2 → 実力N2〜N1相当」</a:t>
            </a:r>
          </a:p>
          <a:p>
            <a:pPr>
              <a:defRPr sz="1300" b="1">
                <a:solidFill>
                  <a:srgbClr val="006400"/>
                </a:solidFill>
              </a:defRPr>
            </a:pPr>
            <a:r>
              <a:t>→ 採用後のミスマッチリスクを事前に把握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企業向け評価レポート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採用判断に必要なデータをわかりやすく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推定実力レベル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申告N3 → 実力N2相当 など、実際の能力を推定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レベル別の回答品質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N1〜N5各レベルでの質問にどれだけ答えられたか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どんな仕事ができそうか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簡単な挨拶・案内ができる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報告・連絡・相談ができる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お客様対応・電話対応ができる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総合評価スコア（0-100点）</a:t>
            </a:r>
          </a:p>
          <a:p>
            <a:pPr lvl="1">
              <a:spcAft>
                <a:spcPts val="800"/>
              </a:spcAft>
              <a:defRPr sz="1400">
                <a:solidFill>
                  <a:srgbClr val="505050"/>
                </a:solidFill>
              </a:defRPr>
            </a:pPr>
            <a:r>
              <a:t>• 採用判断の参考になる点数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競合優位性・差別化ポイント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645920"/>
            <a:ext cx="4114800" cy="182880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3749039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5293"/>
                </a:solidFill>
              </a:defRPr>
            </a:pPr>
            <a:r>
              <a:t>AIアバター面接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37490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本物の面接官のような</a:t>
            </a:r>
            <a:br/>
            <a:r>
              <a:t>リアルな面接体験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645920"/>
            <a:ext cx="4114800" cy="182880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828800"/>
            <a:ext cx="3749039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5293"/>
                </a:solidFill>
              </a:defRPr>
            </a:pPr>
            <a:r>
              <a:t>JLPT全レベル対応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7490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N1〜N5すべてに対応</a:t>
            </a:r>
            <a:br/>
            <a:r>
              <a:t>正確なレベル判定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931920"/>
            <a:ext cx="4114800" cy="182880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114800"/>
            <a:ext cx="3749039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5293"/>
                </a:solidFill>
              </a:defRPr>
            </a:pPr>
            <a:r>
              <a:t>5つの視点で評価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72000"/>
            <a:ext cx="37490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適応力・主体性など</a:t>
            </a:r>
            <a:br/>
            <a:r>
              <a:t>数値でわかりやすく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931920"/>
            <a:ext cx="4114800" cy="182880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4114800"/>
            <a:ext cx="3749039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5293"/>
                </a:solidFill>
              </a:defRPr>
            </a:pPr>
            <a:r>
              <a:t>苦手を見つけて改善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572000"/>
            <a:ext cx="37490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05050"/>
                </a:solidFill>
              </a:defRPr>
            </a:pPr>
            <a:r>
              <a:t>AIが弱点を見つけ</a:t>
            </a:r>
            <a:br/>
            <a:r>
              <a:t>繰り返し練習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ビジネスモデル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mintoku採用支援サービスの追加機能として提供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8229600" cy="1280160"/>
          </a:xfrm>
          <a:prstGeom prst="round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mintoku採用支援サービスの高付加価値オプションとして展開</a:t>
            </a:r>
          </a:p>
          <a:p>
            <a:pPr algn="ctr">
              <a:defRPr sz="1400">
                <a:solidFill>
                  <a:srgbClr val="DCF0FF"/>
                </a:solidFill>
              </a:defRPr>
            </a:pPr>
            <a:r>
              <a:t>導入企業2,000社以上の既存顧客基盤を活用</a:t>
            </a:r>
          </a:p>
          <a:p>
            <a:pPr algn="ctr">
              <a:defRPr sz="1400">
                <a:solidFill>
                  <a:srgbClr val="DCF0FF"/>
                </a:solidFill>
              </a:defRPr>
            </a:pPr>
            <a:r>
              <a:t>Mintoku study（日本語学習アプリ）との連携で学習→評価の一貫サービス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017520"/>
            <a:ext cx="4114800" cy="201168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108960"/>
            <a:ext cx="39319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提供形態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474720"/>
            <a:ext cx="39319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採用支援サービス契約企業向けオプション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Mintoku work求職者向け面接練習機能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人材紹介時の評価レポート付加価値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登録支援機関向けツール提供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017520"/>
            <a:ext cx="4114800" cy="201168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3108960"/>
            <a:ext cx="39319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収益モデル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3474720"/>
            <a:ext cx="39319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AI面接回数ベースの従量課金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企業向け評価レポート（1件単位）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月額プレミアムプラン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エンタープライズ（無制限利用）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212080"/>
            <a:ext cx="8229600" cy="1463040"/>
          </a:xfrm>
          <a:prstGeom prst="roundRect">
            <a:avLst/>
          </a:prstGeom>
          <a:solidFill>
            <a:srgbClr val="FAFAFA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80467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505050"/>
                </a:solidFill>
              </a:defRPr>
            </a:pPr>
            <a:r>
              <a:t>主要コスト構造（外部API）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69280"/>
            <a:ext cx="8046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>
                <a:solidFill>
                  <a:srgbClr val="505050"/>
                </a:solidFill>
              </a:defRPr>
            </a:pPr>
            <a:r>
              <a:t>HeyGen API（アバター） / Google STT（音声認識） / OpenAI API（評価・質問生成）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開発工数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4フェーズ構成による段階的開発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8229600" cy="1097280"/>
          </a:xfrm>
          <a:prstGeom prst="round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総開発期間: 14週間（約3.5ヶ月）  |  総工数: 約11.5人月（230人日）</a:t>
            </a:r>
          </a:p>
          <a:p>
            <a:pPr algn="ctr">
              <a:defRPr sz="1400">
                <a:solidFill>
                  <a:srgbClr val="DCF0FF"/>
                </a:solidFill>
              </a:defRPr>
            </a:pPr>
            <a:r>
              <a:t>推奨体制: 4名（PM/PL、バックエンド、フロントエンド、QA）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834640"/>
            <a:ext cx="4114800" cy="155448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2926080"/>
            <a:ext cx="38404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5293"/>
                </a:solidFill>
              </a:defRPr>
            </a:pPr>
            <a:r>
              <a:t>Phase 1: 基盤構築（4週間）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3291840"/>
            <a:ext cx="38404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>
                <a:solidFill>
                  <a:srgbClr val="505050"/>
                </a:solidFill>
              </a:defRPr>
            </a:pPr>
            <a:r>
              <a:t>認証基盤・API・</a:t>
            </a:r>
            <a:br/>
            <a:r>
              <a:t>ユーザー向け画面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834640"/>
            <a:ext cx="4114800" cy="155448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2926080"/>
            <a:ext cx="38404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5293"/>
                </a:solidFill>
              </a:defRPr>
            </a:pPr>
            <a:r>
              <a:t>Phase 2: アバター統合（4週間）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291840"/>
            <a:ext cx="38404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>
                <a:solidFill>
                  <a:srgbClr val="505050"/>
                </a:solidFill>
              </a:defRPr>
            </a:pPr>
            <a:r>
              <a:t>HeyGen・音声認識・</a:t>
            </a:r>
            <a:br/>
            <a:r>
              <a:t>面接フロー制御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4572000"/>
            <a:ext cx="4114800" cy="155448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663440"/>
            <a:ext cx="38404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5293"/>
                </a:solidFill>
              </a:defRPr>
            </a:pPr>
            <a:r>
              <a:t>Phase 3: 評価機能（3週間）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029200"/>
            <a:ext cx="38404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>
                <a:solidFill>
                  <a:srgbClr val="505050"/>
                </a:solidFill>
              </a:defRPr>
            </a:pPr>
            <a:r>
              <a:t>GPT-4o評価・苦手分析・</a:t>
            </a:r>
            <a:br/>
            <a:r>
              <a:t>mintoku連携・管理画面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4572000"/>
            <a:ext cx="4114800" cy="155448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4663440"/>
            <a:ext cx="38404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5293"/>
                </a:solidFill>
              </a:defRPr>
            </a:pPr>
            <a:r>
              <a:t>Phase 4: リリース準備（3週間）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5029200"/>
            <a:ext cx="38404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>
                <a:solidFill>
                  <a:srgbClr val="505050"/>
                </a:solidFill>
              </a:defRPr>
            </a:pPr>
            <a:r>
              <a:t>セキュリティ・負荷テスト・</a:t>
            </a:r>
            <a:br/>
            <a:r>
              <a:t>本番環境構築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開発スケジュール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18657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08514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8371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8228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78085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7942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47657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514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7371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7228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7085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6942" y="1280160"/>
            <a:ext cx="489857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>
                <a:solidFill>
                  <a:srgbClr val="646464"/>
                </a:solidFill>
              </a:defRPr>
            </a:pPr>
            <a:r>
              <a:t>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18657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08514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8371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8228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8085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67942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57800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47657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37514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727371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17228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085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96942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86800" y="1645920"/>
            <a:ext cx="9144" cy="411480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" y="182880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078B4"/>
                </a:solidFill>
              </a:defRPr>
            </a:pPr>
            <a:r>
              <a:t>Phase 1</a:t>
            </a:r>
            <a:br/>
            <a:r>
              <a:t>基盤構築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1828800"/>
            <a:ext cx="1959428" cy="548640"/>
          </a:xfrm>
          <a:prstGeom prst="roundRect">
            <a:avLst/>
          </a:prstGeom>
          <a:solidFill>
            <a:srgbClr val="0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1828800"/>
            <a:ext cx="1959428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4週間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265176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09664"/>
                </a:solidFill>
              </a:defRPr>
            </a:pPr>
            <a:r>
              <a:t>Phase 2</a:t>
            </a:r>
            <a:br/>
            <a:r>
              <a:t>アバター統合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88228" y="2651760"/>
            <a:ext cx="1959428" cy="548640"/>
          </a:xfrm>
          <a:prstGeom prst="round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8228" y="2651760"/>
            <a:ext cx="1959428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4週間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" y="3474720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C88232"/>
                </a:solidFill>
              </a:defRPr>
            </a:pPr>
            <a:r>
              <a:t>Phase 3</a:t>
            </a:r>
            <a:br/>
            <a:r>
              <a:t>評価機能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47657" y="3474720"/>
            <a:ext cx="1469571" cy="548640"/>
          </a:xfrm>
          <a:prstGeom prst="roundRect">
            <a:avLst/>
          </a:prstGeom>
          <a:solidFill>
            <a:srgbClr val="C88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47657" y="3474720"/>
            <a:ext cx="1469571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3週間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" y="4297679"/>
            <a:ext cx="1645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965096"/>
                </a:solidFill>
              </a:defRPr>
            </a:pPr>
            <a:r>
              <a:t>Phase 4</a:t>
            </a:r>
            <a:br/>
            <a:r>
              <a:t>リリース準備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17228" y="4297679"/>
            <a:ext cx="1469571" cy="548640"/>
          </a:xfrm>
          <a:prstGeom prst="roundRect">
            <a:avLst/>
          </a:prstGeom>
          <a:solidFill>
            <a:srgbClr val="9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17228" y="4297679"/>
            <a:ext cx="1469571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3週間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303520"/>
            <a:ext cx="195942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1ヶ月目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88228" y="5303520"/>
            <a:ext cx="195942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2ヶ月目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47657" y="5303520"/>
            <a:ext cx="195942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3ヶ月目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07085" y="5303520"/>
            <a:ext cx="979714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100">
                <a:solidFill>
                  <a:srgbClr val="505050"/>
                </a:solidFill>
              </a:defRPr>
            </a:pPr>
            <a:r>
              <a:t>3.5ヶ月目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5943600"/>
            <a:ext cx="274320" cy="274320"/>
          </a:xfrm>
          <a:prstGeom prst="roundRect">
            <a:avLst/>
          </a:prstGeom>
          <a:solidFill>
            <a:srgbClr val="00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5852160"/>
            <a:ext cx="16459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C3C3C"/>
                </a:solidFill>
              </a:defRPr>
            </a:pPr>
            <a:r>
              <a:t>基盤構築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651760" y="5943600"/>
            <a:ext cx="274320" cy="274320"/>
          </a:xfrm>
          <a:prstGeom prst="roundRect">
            <a:avLst/>
          </a:prstGeom>
          <a:solidFill>
            <a:srgbClr val="00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0" y="5852160"/>
            <a:ext cx="16459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C3C3C"/>
                </a:solidFill>
              </a:defRPr>
            </a:pPr>
            <a:r>
              <a:t>アバター統合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46320" y="5943600"/>
            <a:ext cx="274320" cy="274320"/>
          </a:xfrm>
          <a:prstGeom prst="roundRect">
            <a:avLst/>
          </a:prstGeom>
          <a:solidFill>
            <a:srgbClr val="C88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12080" y="5852160"/>
            <a:ext cx="16459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C3C3C"/>
                </a:solidFill>
              </a:defRPr>
            </a:pPr>
            <a:r>
              <a:t>評価機能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79" y="5943600"/>
            <a:ext cx="274320" cy="274320"/>
          </a:xfrm>
          <a:prstGeom prst="roundRect">
            <a:avLst/>
          </a:prstGeom>
          <a:solidFill>
            <a:srgbClr val="965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06640" y="5852160"/>
            <a:ext cx="16459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C3C3C"/>
                </a:solidFill>
              </a:defRPr>
            </a:pPr>
            <a:r>
              <a:t>リリース準備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05293"/>
                </a:solidFill>
              </a:defRPr>
            </a:pPr>
            <a:r>
              <a:t>総開発期間: 14週間（約3.5ヶ月）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開発規模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システム構成の概要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463040"/>
            <a:ext cx="2743200" cy="25603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画面数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2024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ユーザー向け: 5画面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（ログイン、ホーム、面接練習、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  フィードバック、学習進捗）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管理者向け: 5画面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合計: 10画面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463040"/>
            <a:ext cx="2743200" cy="25603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155448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APIエンドポイント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2024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認証API: 3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面接セッションAPI: 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評価API: 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質問API: 2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管理者向けAPI: 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合計: 19エンドポイント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743200" cy="25603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5448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外部サービス連携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920240"/>
            <a:ext cx="25603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HeyGen Streaming Avatar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（アバター表示・発話）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Google Cloud STT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（音声認識・文字起こし）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mintoku 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（SSO認証・結果送信）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822960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505050"/>
                </a:solidFill>
              </a:defRPr>
            </a:pPr>
            <a:r>
              <a:t>役割別工数サマリー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46320"/>
            <a:ext cx="80467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>
                <a:solidFill>
                  <a:srgbClr val="3C3C3C"/>
                </a:solidFill>
              </a:defRPr>
            </a:pPr>
            <a:r>
              <a:t>• フロントエンドエンジニア: 84人日（HeyGen統合・UI実装）</a:t>
            </a:r>
          </a:p>
          <a:p>
            <a:pPr>
              <a:defRPr sz="1200">
                <a:solidFill>
                  <a:srgbClr val="3C3C3C"/>
                </a:solidFill>
              </a:defRPr>
            </a:pPr>
            <a:r>
              <a:t>• バックエンドエンジニア: 73人日（API・評価ロジック・外部連携）</a:t>
            </a:r>
          </a:p>
          <a:p>
            <a:pPr>
              <a:defRPr sz="1200">
                <a:solidFill>
                  <a:srgbClr val="3C3C3C"/>
                </a:solidFill>
              </a:defRPr>
            </a:pPr>
            <a:r>
              <a:t>• QA/テストエンジニア: 65人日（テスト設計・実行・セキュリティ）</a:t>
            </a:r>
          </a:p>
          <a:p>
            <a:pPr>
              <a:defRPr sz="1200">
                <a:solidFill>
                  <a:srgbClr val="3C3C3C"/>
                </a:solidFill>
              </a:defRPr>
            </a:pPr>
            <a:r>
              <a:t>• インフラエンジニア: 32人日（AWS構築・CI/CD）</a:t>
            </a:r>
          </a:p>
          <a:p>
            <a:pPr>
              <a:defRPr sz="1200">
                <a:solidFill>
                  <a:srgbClr val="3C3C3C"/>
                </a:solidFill>
              </a:defRPr>
            </a:pPr>
            <a:r>
              <a:t>• PM/PL: 24人日（プロジェクト管理・ドキュメント）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ランニングコスト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800">
                <a:solidFill>
                  <a:srgbClr val="336699"/>
                </a:solidFill>
              </a:defRPr>
            </a:pPr>
            <a:r>
              <a:t>AI面接回数ベースの従量課金モデル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8229600" cy="1645920"/>
          </a:xfrm>
          <a:prstGeom prst="roundRect">
            <a:avLst/>
          </a:prstGeom>
          <a:solidFill>
            <a:srgbClr val="F0F8FF"/>
          </a:solidFill>
          <a:ln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5293"/>
                </a:solidFill>
              </a:defRPr>
            </a:pPr>
            <a:r>
              <a:t>月額コスト試算（1回の面接 = 10分として計算）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8046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b="1">
                <a:solidFill>
                  <a:srgbClr val="333333"/>
                </a:solidFill>
              </a:defRPr>
            </a:pPr>
            <a:r>
              <a:t>Proプラン（50回/月）: 約43,000円/月  |  Scaleプラン（330回/月）: 約83,000円/月</a:t>
            </a:r>
          </a:p>
          <a:p>
            <a:pPr>
              <a:defRPr sz="1200">
                <a:solidFill>
                  <a:srgbClr val="646464"/>
                </a:solidFill>
              </a:defRPr>
            </a:pPr>
            <a:r>
              <a:t>※ AWSインフラ（27,000円）+ 外部API（HeyGen / Google STT / OpenAI GPT-4o）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291840"/>
            <a:ext cx="2743200" cy="21031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38328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Proプラン（50回/月）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749040"/>
            <a:ext cx="25603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HeyGen: 14,850円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Google Cloud STT: 900円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OpenAI GPT-4o: 113円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AWSインフラ: 27,000円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合計: 約43,000円/月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3291840"/>
            <a:ext cx="2743200" cy="2103120"/>
          </a:xfrm>
          <a:prstGeom prst="roundRect">
            <a:avLst/>
          </a:prstGeom>
          <a:solidFill>
            <a:srgbClr val="F0F8FF"/>
          </a:solidFill>
          <a:ln w="12700">
            <a:solidFill>
              <a:srgbClr val="0066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338328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003366"/>
                </a:solidFill>
              </a:defRPr>
            </a:pPr>
            <a:r>
              <a:t>Scaleプラン（330回/月）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49040"/>
            <a:ext cx="25603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HeyGen: 49,500円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Google Cloud STT: 5,940円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OpenAI GPT-4o: 743円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AWSインフラ: 27,000円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</a:defRPr>
            </a:pPr>
            <a:r>
              <a:t>• 合計: 約83,000円/月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291840"/>
            <a:ext cx="2743200" cy="2103120"/>
          </a:xfrm>
          <a:prstGeom prst="roundRect">
            <a:avLst/>
          </a:prstGeom>
          <a:solidFill>
            <a:srgbClr val="FFF0F0"/>
          </a:solidFill>
          <a:ln>
            <a:solidFill>
              <a:srgbClr val="C8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3383280"/>
            <a:ext cx="25603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B43232"/>
                </a:solidFill>
              </a:defRPr>
            </a:pPr>
            <a:r>
              <a:t>Enterprise（331回以上/月）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94760"/>
            <a:ext cx="25603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>
                <a:solidFill>
                  <a:srgbClr val="505050"/>
                </a:solidFill>
              </a:defRPr>
            </a:pPr>
            <a:r>
              <a:t>• HeyGen: 個別交渉</a:t>
            </a:r>
          </a:p>
          <a:p>
            <a:pPr>
              <a:defRPr sz="1100">
                <a:solidFill>
                  <a:srgbClr val="505050"/>
                </a:solidFill>
              </a:defRPr>
            </a:pPr>
            <a:r>
              <a:t>• STT/GPT: 従量課金</a:t>
            </a:r>
          </a:p>
          <a:p>
            <a:pPr>
              <a:defRPr sz="1100">
                <a:solidFill>
                  <a:srgbClr val="505050"/>
                </a:solidFill>
              </a:defRPr>
            </a:pPr>
            <a:r>
              <a:t>• AWS: スケールアップ</a:t>
            </a:r>
          </a:p>
          <a:p/>
          <a:p>
            <a:pPr>
              <a:defRPr sz="1100" b="1">
                <a:solidFill>
                  <a:srgbClr val="B43232"/>
                </a:solidFill>
              </a:defRPr>
            </a:pPr>
            <a:r>
              <a:t>※ 要個別見積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7784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>
                <a:solidFill>
                  <a:srgbClr val="787878"/>
                </a:solidFill>
              </a:defRPr>
            </a:pPr>
            <a:r>
              <a:t>※ 為替: $1 = 150円で計算</a:t>
            </a:r>
          </a:p>
          <a:p>
            <a:pPr>
              <a:defRPr sz="1100" b="1">
                <a:solidFill>
                  <a:srgbClr val="B43232"/>
                </a:solidFill>
              </a:defRPr>
            </a:pPr>
            <a:r>
              <a:t>※ Scale（330回/月）を超える利用にはEnterpriseプラン（HeyGen個別交渉）が必要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年間コスト試算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931920" cy="27432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5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39319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005293"/>
                </a:solidFill>
              </a:defRPr>
            </a:pPr>
            <a:r>
              <a:t>Proプラン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39319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600回/年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39319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005293"/>
                </a:solidFill>
              </a:defRPr>
            </a:pPr>
            <a:r>
              <a:t>約51万円/年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3931920" cy="2743200"/>
          </a:xfrm>
          <a:prstGeom prst="round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828800"/>
            <a:ext cx="393192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Scaleプラン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77440"/>
            <a:ext cx="39319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C8DCFF"/>
                </a:solidFill>
              </a:defRPr>
            </a:pPr>
            <a:r>
              <a:t>3,960回/年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017520"/>
            <a:ext cx="39319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約100万円/年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63440"/>
            <a:ext cx="8229600" cy="109728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B4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93776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B45050"/>
                </a:solidFill>
              </a:defRPr>
            </a:pPr>
            <a:r>
              <a:t>Enterprise（3,960回/年 以上）: 個別見積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787878"/>
                </a:solidFill>
              </a:defRPr>
            </a:pPr>
            <a:r>
              <a:t>※ 為替: $1 = 150円で計算 | 外部APIはUSD建て（為替変動あり）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お問い合わせ /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743200"/>
            <a:ext cx="54864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5486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05293"/>
                </a:solidFill>
              </a:defRPr>
            </a:pPr>
            <a:r>
              <a:t>デモンストレーションのご案内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5486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>
                <a:solidFill>
                  <a:srgbClr val="646464"/>
                </a:solidFill>
              </a:defRPr>
            </a:pPr>
            <a:r>
              <a:t>実際のAI面接体験と評価レポートの</a:t>
            </a:r>
            <a:br/>
            <a:r>
              <a:t>デモをご覧いただけます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8229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 b="0">
                <a:solidFill>
                  <a:srgbClr val="B4C8DC"/>
                </a:solidFill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