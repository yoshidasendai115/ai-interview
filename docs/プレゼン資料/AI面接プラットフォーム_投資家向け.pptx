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26" d="100"/>
          <a:sy n="126" d="100"/>
        </p:scale>
        <p:origin x="2224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CFF"/>
                </a:solidFill>
              </a:defRPr>
            </a:pPr>
            <a:r>
              <a:t>mintoku 採用支援サービス 新機能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AI面接練習・評価機能（仮）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F0FF"/>
                </a:solidFill>
              </a:defRPr>
            </a:pPr>
            <a:r>
              <a:t>外国人採用の「見極め精度」を飛躍的に向上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6464"/>
                </a:solidFill>
              </a:defRPr>
            </a:pPr>
            <a:r>
              <a:t>投資家向け事業説明資料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99"/>
                </a:solidFill>
              </a:defRPr>
            </a:pPr>
            <a:r>
              <a:t>mintoku.com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市場機会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急成長する外国人労働者市場 × mintokuの顧客基盤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外国人労働者数: 2024年に200万人突破（過去最高を更新）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特定技能ビザ制度の拡大（2024年: 対象分野を12→16に拡大）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人手不足の深刻化（介護・建設・製造業・飲食業など）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657600"/>
            <a:ext cx="4114800" cy="2743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749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mintokuの既存基盤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導入企業2,000社以上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外国人採用〜帰国まで一元管理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Mintoku work（求人プラットフォーム）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Mintoku study（日本語学習アプリ）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アジア各国の送り出し機関と連携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657600"/>
            <a:ext cx="4114800" cy="2743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3749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新機能によるシナジー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既存顧客への追加価値提供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採用精度向上による顧客満足度UP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Mintoku studyとの学習連携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採用支援サービスの差別化強化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企業が抱える外国人採用の課題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日本語能力の正確な見極めが困難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書類上のJLPTレベル（N1〜N5）だけでは実力がわからない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面接での会話力と業務遂行能力にギャップがある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申告JLPTレベルと実力の乖離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「N2取得」でも実際の会話・敬語が不十分なケースが多い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ミスマッチによる早期離職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採用コスト損失（1人あたり平均50〜100万円）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現場の受け入れ負担増大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ソリューション概要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AIによる面接練習と客観的評価の提供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① AIアバター面接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リアルな面接官アバター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リップシンク対応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JLPTレベル別の質問生成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リアルタイム会話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② 多角的自動評価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日本語能力4軸評価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採用適性5軸評価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JLPTレベル乖離検出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業務適性判定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③ 企業向けレポート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客観的な評価データ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採用判断の根拠提供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比較可能な指標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リスク軽減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採用ミスマッチを削減し、企業の採用コストと離職リスクを低減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面接シナリオ構成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8229600" cy="1371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64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96C8"/>
                </a:solidFill>
              </a:defRPr>
            </a:pPr>
            <a:r>
              <a:t>導入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5分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2331720"/>
            <a:ext cx="640080" cy="640080"/>
          </a:xfrm>
          <a:prstGeom prst="ellipse">
            <a:avLst/>
          </a:prstGeom>
          <a:solidFill>
            <a:srgbClr val="50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08C64"/>
                </a:solidFill>
              </a:defRPr>
            </a:pPr>
            <a:r>
              <a:t>過去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3383279" y="2331720"/>
            <a:ext cx="640080" cy="640080"/>
          </a:xfrm>
          <a:prstGeom prst="ellipse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4783C"/>
                </a:solidFill>
              </a:defRPr>
            </a:pPr>
            <a:r>
              <a:t>現在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10分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331720"/>
            <a:ext cx="640080" cy="640080"/>
          </a:xfrm>
          <a:prstGeom prst="ellipse">
            <a:avLst/>
          </a:prstGeom>
          <a:solidFill>
            <a:srgbClr val="8C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C508C"/>
                </a:solidFill>
              </a:defRPr>
            </a:pPr>
            <a:r>
              <a:t>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10分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331720"/>
            <a:ext cx="640080" cy="640080"/>
          </a:xfrm>
          <a:prstGeom prst="ellipse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787878"/>
                </a:solidFill>
              </a:defRPr>
            </a:pPr>
            <a:r>
              <a:t>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5分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2331720"/>
            <a:ext cx="640080" cy="64008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5293"/>
                </a:solidFill>
              </a:defRPr>
            </a:pPr>
            <a:r>
              <a:t>締め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423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423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2423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423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423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採用適性評価 5軸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206240"/>
            <a:ext cx="1554480" cy="1554480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適応力</a:t>
            </a:r>
          </a:p>
        </p:txBody>
      </p:sp>
      <p:sp>
        <p:nvSpPr>
          <p:cNvPr id="31" name="Oval 30"/>
          <p:cNvSpPr/>
          <p:nvPr/>
        </p:nvSpPr>
        <p:spPr>
          <a:xfrm>
            <a:off x="2194560" y="4206240"/>
            <a:ext cx="1554480" cy="1554480"/>
          </a:xfrm>
          <a:prstGeom prst="ellipse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46960" y="4709160"/>
            <a:ext cx="1229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 err="1"/>
              <a:t>コミュニケーション</a:t>
            </a:r>
            <a:endParaRPr dirty="0"/>
          </a:p>
        </p:txBody>
      </p:sp>
      <p:sp>
        <p:nvSpPr>
          <p:cNvPr id="33" name="Oval 32"/>
          <p:cNvSpPr/>
          <p:nvPr/>
        </p:nvSpPr>
        <p:spPr>
          <a:xfrm>
            <a:off x="3931920" y="4206240"/>
            <a:ext cx="1554480" cy="1554480"/>
          </a:xfrm>
          <a:prstGeom prst="ellipse">
            <a:avLst/>
          </a:prstGeom>
          <a:solidFill>
            <a:srgbClr val="C8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31920" y="470916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主体性</a:t>
            </a:r>
          </a:p>
        </p:txBody>
      </p:sp>
      <p:sp>
        <p:nvSpPr>
          <p:cNvPr id="35" name="Oval 34"/>
          <p:cNvSpPr/>
          <p:nvPr/>
        </p:nvSpPr>
        <p:spPr>
          <a:xfrm>
            <a:off x="5669279" y="4206240"/>
            <a:ext cx="1554480" cy="1554480"/>
          </a:xfrm>
          <a:prstGeom prst="ellipse">
            <a:avLst/>
          </a:prstGeom>
          <a:solidFill>
            <a:srgbClr val="9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79" y="470916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定着意向</a:t>
            </a:r>
          </a:p>
        </p:txBody>
      </p:sp>
      <p:sp>
        <p:nvSpPr>
          <p:cNvPr id="37" name="Oval 36"/>
          <p:cNvSpPr/>
          <p:nvPr/>
        </p:nvSpPr>
        <p:spPr>
          <a:xfrm>
            <a:off x="7406640" y="4206240"/>
            <a:ext cx="1554480" cy="1554480"/>
          </a:xfrm>
          <a:prstGeom prst="ellipse">
            <a:avLst/>
          </a:prstGeom>
          <a:solidFill>
            <a:srgbClr val="6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0" y="470916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協調性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各フェーズの回答からAIが5軸を総合評価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面接の流れ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63040"/>
            <a:ext cx="1371600" cy="137160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293"/>
                </a:solidFill>
              </a:defRPr>
            </a:pPr>
            <a:r>
              <a:t>AIが質問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アバターが</a:t>
            </a:r>
            <a:br/>
            <a:r>
              <a:t>質問を発話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B4B4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1463040"/>
            <a:ext cx="1371600" cy="1371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</a:defRPr>
            </a:pPr>
            <a:r>
              <a:t>次の質問を確認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質問内容</a:t>
            </a:r>
            <a:br/>
            <a:r>
              <a:t>モーダル表示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B4B4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1463040"/>
            <a:ext cx="1371600" cy="1371600"/>
          </a:xfrm>
          <a:prstGeom prst="ellipse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50"/>
                </a:solidFill>
              </a:defRPr>
            </a:pPr>
            <a:r>
              <a:t>音声で回答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録音モーダル</a:t>
            </a:r>
            <a:br/>
            <a:r>
              <a:t>リアルタイム文字起こし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B4B4"/>
                </a:solidFill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269479" y="1463040"/>
            <a:ext cx="1371600" cy="1371600"/>
          </a:xfrm>
          <a:prstGeom prst="ellipse">
            <a:avLst/>
          </a:prstGeom>
          <a:solidFill>
            <a:srgbClr val="B4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79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6432"/>
                </a:solidFill>
              </a:defRPr>
            </a:pPr>
            <a:r>
              <a:t>次の質問へ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10問</a:t>
            </a:r>
            <a:br/>
            <a:r>
              <a:t>繰り返し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会話例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188720"/>
            <a:ext cx="1097280" cy="54864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AI面接官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1188720"/>
            <a:ext cx="1097280" cy="548640"/>
          </a:xfrm>
          <a:prstGeom prst="ellipse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ユーザー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5029200" cy="4572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3366"/>
                </a:solidFill>
              </a:defRPr>
            </a:pPr>
            <a:r>
              <a:t>日本で働きたいと思った理由を教えてください。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2320" y="2468880"/>
            <a:ext cx="6817360" cy="45720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0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53920" y="2542032"/>
            <a:ext cx="6624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5032"/>
                </a:solidFill>
              </a:defRPr>
            </a:pPr>
            <a:r>
              <a:rPr dirty="0" err="1"/>
              <a:t>日本の技術を学びたいからです。母国でも日本製品は有名で、ずっと憧れていました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017520"/>
            <a:ext cx="5029200" cy="4572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3366"/>
                </a:solidFill>
              </a:defRPr>
            </a:pPr>
            <a:r>
              <a:t>5年後、どのようになっていたいですか？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4400" y="3566160"/>
            <a:ext cx="5415280" cy="45720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0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7440" y="3657600"/>
            <a:ext cx="4947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5032"/>
                </a:solidFill>
              </a:defRPr>
            </a:pPr>
            <a:r>
              <a:rPr dirty="0" err="1"/>
              <a:t>日本語をもっと上手になって、リーダーとして働きたいです</a:t>
            </a:r>
            <a:r>
              <a:rPr dirty="0"/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114800"/>
            <a:ext cx="5029200" cy="4572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187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3366"/>
                </a:solidFill>
              </a:defRPr>
            </a:pPr>
            <a:r>
              <a:t>日本で働くにあたって、不安なことはありますか？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0240" y="4663440"/>
            <a:ext cx="5679440" cy="45720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0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61360" y="4736592"/>
            <a:ext cx="5516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5032"/>
                </a:solidFill>
              </a:defRPr>
            </a:pPr>
            <a:r>
              <a:rPr dirty="0" err="1"/>
              <a:t>日本語がまだ完璧ではないので少し不安ですが、毎日勉強しています</a:t>
            </a:r>
            <a:r>
              <a:rPr dirty="0"/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8229600" cy="64008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C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641E"/>
                </a:solidFill>
              </a:defRPr>
            </a:pPr>
            <a:r>
              <a:t>→ 各回答をAIが自動評価（語彙・文法・内容・敬語）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主な機能（できること）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JLPTレベル別学習プラン（N1〜N5対応）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各レベルに最適化された質問と評価基準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AIアバター面接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リップシンク対応のリアルな面接官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HeyGen APIによる高品質なアバター映像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リアルタイムフィードバック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音声認識による即時文字起こし（Google Speech-to-Text）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回答ごとの評価とアドバイス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苦手克服ループ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AIが弱点を特定し、重点的に反復練習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パーソナライズされた学習体験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評価で得られる情報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3つの軸による多角的評価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4114800" cy="2103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日本語能力評価（4軸）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語彙力: 適切な単語選択・語彙の豊富さ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文法: 文法的正確性・複雑な構文の使用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内容: 質問への適切な回答・論理性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敬語: ビジネス敬語の正確な使用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4114800" cy="2103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採用適性評価（5軸）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適応力: 新環境への順応性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コミュニケーション力: 意思疎通能力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主体性: 自発的行動・問題解決意欲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定着意向: 長期勤続の意思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協調性: チームワーク能力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8229600" cy="2103120"/>
          </a:xfrm>
          <a:prstGeom prst="roundRect">
            <a:avLst/>
          </a:prstGeom>
          <a:solidFill>
            <a:srgbClr val="FFF8F0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4600"/>
                </a:solidFill>
              </a:defRPr>
            </a:pPr>
            <a:r>
              <a:t>JLPTレベル乖離検出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申告レベルと実力の乖離を自動検出</a:t>
            </a:r>
          </a:p>
          <a:p>
            <a:pPr>
              <a:defRPr sz="1300">
                <a:solidFill>
                  <a:srgbClr val="646464"/>
                </a:solidFill>
              </a:defRPr>
            </a:pPr>
            <a:r>
              <a:t>例：「申告N3 → 実力N4相当」「申告N2 → 実力N2〜N1相当」</a:t>
            </a:r>
          </a:p>
          <a:p>
            <a:pPr>
              <a:defRPr sz="1300" b="1">
                <a:solidFill>
                  <a:srgbClr val="006400"/>
                </a:solidFill>
              </a:defRPr>
            </a:pPr>
            <a:r>
              <a:t>→ 採用後のミスマッチリスクを事前に把握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企業向け統合評価レポート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採用判断に必要な客観的データを提供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推定実力レベル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申告N3 → 実力N2相当 など、実際の能力を推定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レベル別パフォーマンス一覧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N1〜N5各レベルでの質問に対する回答品質を可視化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業務適性判定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基本接客：挨拶・簡単な案内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一般業務：報連相・基本的なビジネス会話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ビジネス敬語：クレーム対応・交渉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高度業務：企画提案・プレゼンテーション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総合評価スコア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• 採用判断の参考となる統合指標（0-100点）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競合優位性・差別化ポイント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41148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AIアバター面接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リップシンク対応の</a:t>
            </a:r>
            <a:br/>
            <a:r>
              <a:t>リアルな面接体験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41148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JLPT全レベル対応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N1〜N5の評価基準で</a:t>
            </a:r>
            <a:br/>
            <a:r>
              <a:t>正確なレベル判定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41148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採用適性の定量評価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5軸による</a:t>
            </a:r>
            <a:br/>
            <a:r>
              <a:t>多角的な適性判断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931920"/>
            <a:ext cx="41148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3"/>
                </a:solidFill>
              </a:defRPr>
            </a:pPr>
            <a:r>
              <a:t>苦手克服サイクル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572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AIが弱点を特定し</a:t>
            </a:r>
            <a:br/>
            <a:r>
              <a:t>効率的に改善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ビジネスモデル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mintoku採用支援サービスの追加機能として提供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12801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mintoku採用支援サービスの高付加価値オプションとして展開</a:t>
            </a:r>
          </a:p>
          <a:p>
            <a:pPr algn="ctr">
              <a:defRPr sz="1400">
                <a:solidFill>
                  <a:srgbClr val="DCF0FF"/>
                </a:solidFill>
              </a:defRPr>
            </a:pPr>
            <a:r>
              <a:t>導入企業2,000社以上の既存顧客基盤を活用</a:t>
            </a:r>
          </a:p>
          <a:p>
            <a:pPr algn="ctr">
              <a:defRPr sz="1400">
                <a:solidFill>
                  <a:srgbClr val="DCF0FF"/>
                </a:solidFill>
              </a:defRPr>
            </a:pPr>
            <a:r>
              <a:t>Mintoku study（日本語学習アプリ）との連携で学習→評価の一貫サービス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4114800" cy="2011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提供形態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採用支援サービス契約企業向けオプション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Mintoku work求職者向け面接練習機能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人材紹介時の評価レポート付加価値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登録支援機関向けツール提供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17520"/>
            <a:ext cx="4114800" cy="2011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収益モデル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747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AI面接回数ベースの従量課金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企業向け評価レポート（1件単位）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月額プレミアムプラン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エンタープライズ（無制限利用）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822960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主要コスト構造（外部API）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HeyGen API（アバター） / Google STT（音声認識） / OpenAI API（評価・質問生成）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開発工数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4フェーズ構成による段階的開発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109728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総開発期間: 14週間（約3.5ヶ月）  |  総工数: 約11.5人月（230人日）</a:t>
            </a:r>
          </a:p>
          <a:p>
            <a:pPr algn="ctr">
              <a:defRPr sz="1400">
                <a:solidFill>
                  <a:srgbClr val="DCF0FF"/>
                </a:solidFill>
              </a:defRPr>
            </a:pPr>
            <a:r>
              <a:t>推奨体制: 4名（PM/PL、バックエンド、フロントエンド、QA）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4114800" cy="15544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926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Phase 1: 基盤構築（4週間）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918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認証基盤・API・</a:t>
            </a:r>
            <a:br/>
            <a:r>
              <a:t>ユーザー向け画面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834640"/>
            <a:ext cx="4114800" cy="15544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2926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Phase 2: アバター統合（4週間）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2918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HeyGen・音声認識・</a:t>
            </a:r>
            <a:br/>
            <a:r>
              <a:t>面接フロー制御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572000"/>
            <a:ext cx="4114800" cy="15544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4663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Phase 3: 評価機能（3週間）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0292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GPT-4o評価・苦手分析・</a:t>
            </a:r>
            <a:br/>
            <a:r>
              <a:t>mintoku連携・管理画面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572000"/>
            <a:ext cx="4114800" cy="15544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663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Phase 4: リリース準備（3週間）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50292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セキュリティ・負荷テスト・</a:t>
            </a:r>
            <a:br/>
            <a:r>
              <a:t>本番環境構築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開発規模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システム構成の概要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画面数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ユーザー向け: 5画面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（ログイン、ホーム、面接練習、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 フィードバック、学習進捗）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管理者向け: 5画面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合計: 10画面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APIエンドポイント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認証API: 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面接セッションAPI: 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評価API: 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質問API: 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管理者向けAPI: 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合計: 19エンドポイント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74320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外部サービス連携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HeyGen Streaming Avatar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（アバター表示・発話）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Google Cloud STT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（音声認識・文字起こし）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mintoku 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（SSO認証・結果送信）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822960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役割別工数サマリー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• フロントエンドエンジニア: 84人日（HeyGen統合・UI実装）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バックエンドエンジニア: 73人日（API・評価ロジック・外部連携）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QA/テストエンジニア: 65人日（テスト設計・実行・セキュリティ）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インフラエンジニア: 32人日（AWS構築・CI/CD）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PM/PL: 24人日（プロジェクト管理・ドキュメント）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ランニングコスト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6699"/>
                </a:solidFill>
              </a:defRPr>
            </a:pPr>
            <a:r>
              <a:t>AI面接回数ベースの従量課金モデル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月額コスト試算（1回の面接 = 10分として計算）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Proプラン（50回/月）: 約43,000円/月  |  Scaleプラン（330回/月）: 約83,000円/月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※ AWSインフラ（27,000円）+ 外部API（HeyGen / Google STT / OpenAI GPT-4o）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2743200" cy="2103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Proプラン（50回/月）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4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HeyGen: 14,850円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Google Cloud STT: 900円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OpenAI GPT-4o: 113円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AWSインフラ: 27,000円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合計: 約43,000円/月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291840"/>
            <a:ext cx="2743200" cy="21031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Scaleプラン（330回/月）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4904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HeyGen: 49,500円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Google Cloud STT: 5,940円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OpenAI GPT-4o: 743円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AWSインフラ: 27,000円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合計: 約83,000円/月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91840"/>
            <a:ext cx="2743200" cy="2103120"/>
          </a:xfrm>
          <a:prstGeom prst="roundRect">
            <a:avLst/>
          </a:prstGeom>
          <a:solidFill>
            <a:srgbClr val="FFF0F0"/>
          </a:solidFill>
          <a:ln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3232"/>
                </a:solidFill>
              </a:defRPr>
            </a:pPr>
            <a:r>
              <a:t>Enterprise（331回以上/月）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• HeyGen: 個別交渉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STT/GPT: 従量課金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AWS: スケールアップ</a:t>
            </a:r>
          </a:p>
          <a:p>
            <a:endParaRPr/>
          </a:p>
          <a:p>
            <a:pPr>
              <a:defRPr sz="1100" b="1">
                <a:solidFill>
                  <a:srgbClr val="B43232"/>
                </a:solidFill>
              </a:defRPr>
            </a:pPr>
            <a:r>
              <a:t>※ 要個別見積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※ 為替: $1 = 150円で計算</a:t>
            </a:r>
          </a:p>
          <a:p>
            <a:pPr>
              <a:defRPr sz="1100" b="1">
                <a:solidFill>
                  <a:srgbClr val="B43232"/>
                </a:solidFill>
              </a:defRPr>
            </a:pPr>
            <a:r>
              <a:t>※ Scale（330回/月）を超える利用にはEnterpriseプラン（HeyGen個別交渉）が必要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年間コスト試算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931920" cy="2743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293"/>
                </a:solidFill>
              </a:defRPr>
            </a:pPr>
            <a:r>
              <a:t>Proプラン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600回/年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約51万円/年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931920" cy="27432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Scaleプラン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t>3,960回/年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約100万円/年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B4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45050"/>
                </a:solidFill>
              </a:defRPr>
            </a:pPr>
            <a:r>
              <a:t>Enterprise（3,960回/年 以上）: 個別見積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※ 為替: $1 = 150円で計算 | 外部APIはUSD建て（為替変動あり）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お問い合わせ /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5293"/>
                </a:solidFill>
              </a:defRPr>
            </a:pPr>
            <a:r>
              <a:t>デモンストレーションのご案内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実際のAI面接体験と評価レポートの</a:t>
            </a:r>
            <a:br/>
            <a:r>
              <a:t>デモをご覧いただけます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Confidential - For Investor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1171</Words>
  <Application>Microsoft Macintosh PowerPoint</Application>
  <PresentationFormat>画面に合わせる (4:3)</PresentationFormat>
  <Paragraphs>246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吉田成一</cp:lastModifiedBy>
  <cp:revision>2</cp:revision>
  <dcterms:created xsi:type="dcterms:W3CDTF">2013-01-27T09:14:16Z</dcterms:created>
  <dcterms:modified xsi:type="dcterms:W3CDTF">2026-02-03T11:59:08Z</dcterms:modified>
  <cp:category/>
</cp:coreProperties>
</file>